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embeddedFontLst>
    <p:embeddedFont>
      <p:font typeface="Lato" panose="020F0502020204030203" pitchFamily="34" charset="0"/>
      <p:regular r:id="rId10"/>
      <p:bold r:id="rId11"/>
      <p:italic r:id="rId12"/>
      <p:boldItalic r:id="rId13"/>
    </p:embeddedFont>
    <p:embeddedFont>
      <p:font typeface="Raleway" panose="020B0604020202020204" pitchFamily="2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6fa3c89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6fa3c89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c6fa3c898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c6fa3c898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c6fa3c898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c6fa3c898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25249c377f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125249c377f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25249c377f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125249c377f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25249c377f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125249c377f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25249c377f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125249c377f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subTitle" idx="1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8" name="Google Shape;58;p10"/>
          <p:cNvSpPr txBox="1">
            <a:spLocks noGrp="1"/>
          </p:cNvSpPr>
          <p:nvPr>
            <p:ph type="body" idx="1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3" name="Google Shape;63;p11"/>
          <p:cNvSpPr txBox="1">
            <a:spLocks noGrp="1"/>
          </p:cNvSpPr>
          <p:nvPr>
            <p:ph type="title" hasCustomPrompt="1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wiss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mazon.in/Rockerz-370-Headphone-Bluetooth-Lightweight/dp/B0856HNMR7/ref=cm_cr_arp_d_product_top?ie=UTF8&amp;th=1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>
            <a:spLocks noGrp="1"/>
          </p:cNvSpPr>
          <p:nvPr>
            <p:ph type="title"/>
          </p:nvPr>
        </p:nvSpPr>
        <p:spPr>
          <a:xfrm>
            <a:off x="423600" y="626525"/>
            <a:ext cx="8296800" cy="15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Sentiment Analysis on Amazon Product Reviews</a:t>
            </a:r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subTitle" idx="4294967295"/>
          </p:nvPr>
        </p:nvSpPr>
        <p:spPr>
          <a:xfrm>
            <a:off x="5206500" y="3294575"/>
            <a:ext cx="3513900" cy="144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By</a:t>
            </a:r>
            <a:endParaRPr dirty="0"/>
          </a:p>
          <a:p>
            <a:pPr marL="0" lvl="0" indent="0" algn="l" rtl="0">
              <a:lnSpc>
                <a:spcPct val="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dirty="0"/>
              <a:t>Lakhan patidar</a:t>
            </a:r>
          </a:p>
          <a:p>
            <a:pPr marL="0" lvl="0" indent="0" algn="l" rtl="0">
              <a:lnSpc>
                <a:spcPct val="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IN" dirty="0"/>
              <a:t>S</a:t>
            </a:r>
            <a:r>
              <a:rPr lang="en"/>
              <a:t>anjay kumars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>
            <a:spLocks noGrp="1"/>
          </p:cNvSpPr>
          <p:nvPr>
            <p:ph type="title"/>
          </p:nvPr>
        </p:nvSpPr>
        <p:spPr>
          <a:xfrm>
            <a:off x="265500" y="1912650"/>
            <a:ext cx="4045200" cy="131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79" name="Google Shape;79;p14"/>
          <p:cNvSpPr txBox="1">
            <a:spLocks noGrp="1"/>
          </p:cNvSpPr>
          <p:nvPr>
            <p:ph type="body" idx="2"/>
          </p:nvPr>
        </p:nvSpPr>
        <p:spPr>
          <a:xfrm>
            <a:off x="4572000" y="0"/>
            <a:ext cx="4572000" cy="514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b="1"/>
              <a:t>Product Information</a:t>
            </a:r>
            <a:endParaRPr b="1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b="1"/>
              <a:t>Web Scraping</a:t>
            </a:r>
            <a:endParaRPr b="1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/>
              <a:t>Data Preprocessing</a:t>
            </a:r>
            <a:endParaRPr b="1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/>
              <a:t>Visualizations of ratings</a:t>
            </a:r>
            <a:endParaRPr b="1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/>
              <a:t>Text Preprocessing</a:t>
            </a:r>
            <a:endParaRPr b="1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/>
              <a:t>CountVectorizer</a:t>
            </a:r>
            <a:endParaRPr b="1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/>
              <a:t>Word Cloud</a:t>
            </a:r>
            <a:endParaRPr b="1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/>
              <a:t>Sentiment Analysis</a:t>
            </a:r>
            <a:endParaRPr b="1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/>
              <a:t>Model Building</a:t>
            </a:r>
            <a:endParaRPr b="1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/>
              <a:t>Metrics</a:t>
            </a:r>
            <a:endParaRPr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>
            <a:spLocks noGrp="1"/>
          </p:cNvSpPr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Product Information</a:t>
            </a:r>
            <a:endParaRPr/>
          </a:p>
        </p:txBody>
      </p:sp>
      <p:sp>
        <p:nvSpPr>
          <p:cNvPr id="85" name="Google Shape;85;p15"/>
          <p:cNvSpPr txBox="1">
            <a:spLocks noGrp="1"/>
          </p:cNvSpPr>
          <p:nvPr>
            <p:ph type="subTitle" idx="1"/>
          </p:nvPr>
        </p:nvSpPr>
        <p:spPr>
          <a:xfrm>
            <a:off x="265500" y="2735378"/>
            <a:ext cx="4045200" cy="217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1"/>
              </a:buClr>
              <a:buSzPts val="2300"/>
              <a:buFont typeface="Arial"/>
              <a:buChar char="●"/>
            </a:pPr>
            <a:r>
              <a:rPr lang="en" sz="2300">
                <a:solidFill>
                  <a:srgbClr val="0F111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Name: boAt Rockerz 370 Bluetooth Wireless</a:t>
            </a:r>
            <a:endParaRPr sz="2300">
              <a:solidFill>
                <a:srgbClr val="0F111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Arial"/>
              <a:buChar char="●"/>
            </a:pPr>
            <a:r>
              <a:rPr lang="en" sz="2300">
                <a:solidFill>
                  <a:srgbClr val="0F111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Link: </a:t>
            </a:r>
            <a:r>
              <a:rPr lang="en" sz="2300" u="sng">
                <a:solidFill>
                  <a:schemeClr val="hlink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3"/>
              </a:rPr>
              <a:t>Amazon link</a:t>
            </a:r>
            <a:endParaRPr sz="2300">
              <a:solidFill>
                <a:srgbClr val="0F111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endParaRPr sz="2300">
              <a:solidFill>
                <a:srgbClr val="0F111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6" name="Google Shape;8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4650" y="1020700"/>
            <a:ext cx="4045201" cy="3336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>
            <a:spLocks noGrp="1"/>
          </p:cNvSpPr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 Scraping</a:t>
            </a:r>
            <a:endParaRPr/>
          </a:p>
        </p:txBody>
      </p:sp>
      <p:sp>
        <p:nvSpPr>
          <p:cNvPr id="92" name="Google Shape;92;p16"/>
          <p:cNvSpPr txBox="1">
            <a:spLocks noGrp="1"/>
          </p:cNvSpPr>
          <p:nvPr>
            <p:ph type="body" idx="2"/>
          </p:nvPr>
        </p:nvSpPr>
        <p:spPr>
          <a:xfrm>
            <a:off x="4572000" y="0"/>
            <a:ext cx="4572000" cy="514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Web scrapped the data using  beautifulsoup and requests</a:t>
            </a:r>
            <a:endParaRPr sz="1600"/>
          </a:p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Gather the data of the 1st hundred pages</a:t>
            </a:r>
            <a:endParaRPr sz="1600"/>
          </a:p>
          <a:p>
            <a:pPr marL="457200" lvl="0" indent="-330200" algn="l" rtl="0">
              <a:spcBef>
                <a:spcPts val="1200"/>
              </a:spcBef>
              <a:spcAft>
                <a:spcPts val="1200"/>
              </a:spcAft>
              <a:buSzPts val="1600"/>
              <a:buChar char="●"/>
            </a:pPr>
            <a:r>
              <a:rPr lang="en" sz="1600"/>
              <a:t>Retrieved 820 observations which includes rating, title and content </a:t>
            </a:r>
            <a:endParaRPr sz="1600"/>
          </a:p>
        </p:txBody>
      </p:sp>
      <p:sp>
        <p:nvSpPr>
          <p:cNvPr id="93" name="Google Shape;93;p16"/>
          <p:cNvSpPr txBox="1">
            <a:spLocks noGrp="1"/>
          </p:cNvSpPr>
          <p:nvPr>
            <p:ph type="subTitle" idx="1"/>
          </p:nvPr>
        </p:nvSpPr>
        <p:spPr>
          <a:xfrm>
            <a:off x="265500" y="2735378"/>
            <a:ext cx="4045200" cy="217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1"/>
              </a:buClr>
              <a:buSzPts val="2300"/>
              <a:buFont typeface="Arial"/>
              <a:buChar char="●"/>
            </a:pPr>
            <a:r>
              <a:rPr lang="en" sz="2300">
                <a:solidFill>
                  <a:srgbClr val="0F111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Libraries used</a:t>
            </a:r>
            <a:endParaRPr sz="2300">
              <a:solidFill>
                <a:srgbClr val="0F111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914400" lvl="1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Arial"/>
              <a:buChar char="○"/>
            </a:pPr>
            <a:r>
              <a:rPr lang="en" sz="2300">
                <a:solidFill>
                  <a:srgbClr val="0F111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BeautifulSoup</a:t>
            </a:r>
            <a:endParaRPr sz="2300">
              <a:solidFill>
                <a:srgbClr val="0F111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914400" lvl="1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1"/>
              </a:buClr>
              <a:buSzPts val="2300"/>
              <a:buFont typeface="Arial"/>
              <a:buChar char="○"/>
            </a:pPr>
            <a:r>
              <a:rPr lang="en" sz="2300">
                <a:solidFill>
                  <a:srgbClr val="0F111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Requests</a:t>
            </a:r>
            <a:endParaRPr sz="2300">
              <a:solidFill>
                <a:srgbClr val="0F111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300">
              <a:solidFill>
                <a:srgbClr val="0F111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>
            <a:spLocks noGrp="1"/>
          </p:cNvSpPr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Preprocessing</a:t>
            </a:r>
            <a:endParaRPr/>
          </a:p>
        </p:txBody>
      </p:sp>
      <p:sp>
        <p:nvSpPr>
          <p:cNvPr id="99" name="Google Shape;99;p17"/>
          <p:cNvSpPr txBox="1">
            <a:spLocks noGrp="1"/>
          </p:cNvSpPr>
          <p:nvPr>
            <p:ph type="body" idx="2"/>
          </p:nvPr>
        </p:nvSpPr>
        <p:spPr>
          <a:xfrm>
            <a:off x="4572000" y="0"/>
            <a:ext cx="4572000" cy="514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Performed data preprocessing by verifying any missing values and the distribution of the ratings </a:t>
            </a:r>
            <a:endParaRPr sz="1600"/>
          </a:p>
          <a:p>
            <a:pPr marL="457200" lvl="0" indent="-330200" algn="l" rtl="0">
              <a:spcBef>
                <a:spcPts val="1200"/>
              </a:spcBef>
              <a:spcAft>
                <a:spcPts val="1200"/>
              </a:spcAft>
              <a:buSzPts val="1600"/>
              <a:buChar char="●"/>
            </a:pPr>
            <a:r>
              <a:rPr lang="en" sz="1600"/>
              <a:t>Created a new feature as ‘review’ by combining ‘title’ and ‘content’ and both are text features</a:t>
            </a:r>
            <a:endParaRPr sz="1600"/>
          </a:p>
        </p:txBody>
      </p:sp>
      <p:sp>
        <p:nvSpPr>
          <p:cNvPr id="100" name="Google Shape;100;p17"/>
          <p:cNvSpPr txBox="1">
            <a:spLocks noGrp="1"/>
          </p:cNvSpPr>
          <p:nvPr>
            <p:ph type="subTitle" idx="1"/>
          </p:nvPr>
        </p:nvSpPr>
        <p:spPr>
          <a:xfrm>
            <a:off x="265500" y="2735378"/>
            <a:ext cx="4045200" cy="217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1"/>
              </a:buClr>
              <a:buSzPts val="2300"/>
              <a:buFont typeface="Arial"/>
              <a:buChar char="●"/>
            </a:pPr>
            <a:r>
              <a:rPr lang="en" sz="2300">
                <a:solidFill>
                  <a:srgbClr val="0F111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Libraries used</a:t>
            </a:r>
            <a:endParaRPr sz="2300">
              <a:solidFill>
                <a:srgbClr val="0F111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914400" lvl="1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1"/>
              </a:buClr>
              <a:buSzPts val="2300"/>
              <a:buFont typeface="Arial"/>
              <a:buChar char="○"/>
            </a:pPr>
            <a:r>
              <a:rPr lang="en" sz="2300">
                <a:solidFill>
                  <a:srgbClr val="0F111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pandas</a:t>
            </a:r>
            <a:endParaRPr sz="2300">
              <a:solidFill>
                <a:srgbClr val="0F111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300">
              <a:solidFill>
                <a:srgbClr val="0F111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>
            <a:spLocks noGrp="1"/>
          </p:cNvSpPr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Visualizations of ratings</a:t>
            </a:r>
            <a:endParaRPr/>
          </a:p>
        </p:txBody>
      </p:sp>
      <p:sp>
        <p:nvSpPr>
          <p:cNvPr id="106" name="Google Shape;106;p18"/>
          <p:cNvSpPr txBox="1">
            <a:spLocks noGrp="1"/>
          </p:cNvSpPr>
          <p:nvPr>
            <p:ph type="body" idx="2"/>
          </p:nvPr>
        </p:nvSpPr>
        <p:spPr>
          <a:xfrm>
            <a:off x="4572000" y="0"/>
            <a:ext cx="4572000" cy="514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1600"/>
          </a:p>
        </p:txBody>
      </p:sp>
      <p:sp>
        <p:nvSpPr>
          <p:cNvPr id="107" name="Google Shape;107;p18"/>
          <p:cNvSpPr txBox="1">
            <a:spLocks noGrp="1"/>
          </p:cNvSpPr>
          <p:nvPr>
            <p:ph type="subTitle" idx="1"/>
          </p:nvPr>
        </p:nvSpPr>
        <p:spPr>
          <a:xfrm>
            <a:off x="265500" y="2735378"/>
            <a:ext cx="4045200" cy="217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1"/>
              </a:buClr>
              <a:buSzPts val="2300"/>
              <a:buFont typeface="Arial"/>
              <a:buChar char="●"/>
            </a:pPr>
            <a:r>
              <a:rPr lang="en" sz="2300">
                <a:solidFill>
                  <a:srgbClr val="0F111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Libraries used</a:t>
            </a:r>
            <a:endParaRPr sz="2300">
              <a:solidFill>
                <a:srgbClr val="0F111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914400" lvl="1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1"/>
              </a:buClr>
              <a:buSzPts val="2300"/>
              <a:buFont typeface="Arial"/>
              <a:buChar char="○"/>
            </a:pPr>
            <a:r>
              <a:rPr lang="en" sz="2300">
                <a:solidFill>
                  <a:srgbClr val="0F111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Matplotlib</a:t>
            </a:r>
            <a:endParaRPr sz="2300">
              <a:solidFill>
                <a:srgbClr val="0F111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914400" lvl="1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1"/>
              </a:buClr>
              <a:buSzPts val="2300"/>
              <a:buFont typeface="Arial"/>
              <a:buChar char="○"/>
            </a:pPr>
            <a:r>
              <a:rPr lang="en" sz="2300">
                <a:solidFill>
                  <a:srgbClr val="0F111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seaborn</a:t>
            </a:r>
            <a:endParaRPr sz="2300">
              <a:solidFill>
                <a:srgbClr val="0F111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300">
              <a:solidFill>
                <a:srgbClr val="0F111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8" name="Google Shape;10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0"/>
            <a:ext cx="4572000" cy="292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43000" y="3009900"/>
            <a:ext cx="2266950" cy="213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 txBox="1">
            <a:spLocks noGrp="1"/>
          </p:cNvSpPr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Text Preprocessing</a:t>
            </a:r>
            <a:endParaRPr/>
          </a:p>
        </p:txBody>
      </p:sp>
      <p:sp>
        <p:nvSpPr>
          <p:cNvPr id="115" name="Google Shape;115;p19"/>
          <p:cNvSpPr txBox="1">
            <a:spLocks noGrp="1"/>
          </p:cNvSpPr>
          <p:nvPr>
            <p:ph type="body" idx="2"/>
          </p:nvPr>
        </p:nvSpPr>
        <p:spPr>
          <a:xfrm>
            <a:off x="4572000" y="0"/>
            <a:ext cx="4572000" cy="514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Calculated the values counts of each review of the below parameters </a:t>
            </a:r>
            <a:endParaRPr sz="1600"/>
          </a:p>
          <a:p>
            <a:pPr marL="914400" lvl="1" indent="-330200" algn="l" rtl="0">
              <a:spcBef>
                <a:spcPts val="120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Char_count</a:t>
            </a:r>
            <a:endParaRPr sz="1600"/>
          </a:p>
          <a:p>
            <a:pPr marL="914400" lvl="1" indent="-330200" algn="l" rtl="0">
              <a:spcBef>
                <a:spcPts val="120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Punctuations</a:t>
            </a:r>
            <a:endParaRPr sz="1600"/>
          </a:p>
          <a:p>
            <a:pPr marL="914400" lvl="1" indent="-330200" algn="l" rtl="0">
              <a:spcBef>
                <a:spcPts val="120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Numerics</a:t>
            </a:r>
            <a:endParaRPr sz="1600"/>
          </a:p>
          <a:p>
            <a:pPr marL="914400" lvl="1" indent="-330200" algn="l" rtl="0">
              <a:spcBef>
                <a:spcPts val="120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stopwords</a:t>
            </a:r>
            <a:endParaRPr sz="1600"/>
          </a:p>
          <a:p>
            <a:pPr marL="457200" lvl="0" indent="-330200" algn="l" rtl="0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Removed the below parameters from the reviews</a:t>
            </a:r>
            <a:endParaRPr sz="1600"/>
          </a:p>
          <a:p>
            <a:pPr marL="914400" lvl="1" indent="-330200" algn="l" rtl="0">
              <a:spcBef>
                <a:spcPts val="120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Stopwords</a:t>
            </a:r>
            <a:endParaRPr sz="1600"/>
          </a:p>
          <a:p>
            <a:pPr marL="914400" lvl="1" indent="-330200" algn="l" rtl="0">
              <a:spcBef>
                <a:spcPts val="120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Emojis</a:t>
            </a:r>
            <a:endParaRPr sz="1600"/>
          </a:p>
          <a:p>
            <a:pPr marL="914400" lvl="1" indent="-330200" algn="l" rtl="0">
              <a:spcBef>
                <a:spcPts val="120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Rare words</a:t>
            </a:r>
            <a:endParaRPr sz="1600"/>
          </a:p>
          <a:p>
            <a:pPr marL="9144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600"/>
          </a:p>
        </p:txBody>
      </p:sp>
      <p:sp>
        <p:nvSpPr>
          <p:cNvPr id="116" name="Google Shape;116;p19"/>
          <p:cNvSpPr txBox="1">
            <a:spLocks noGrp="1"/>
          </p:cNvSpPr>
          <p:nvPr>
            <p:ph type="subTitle" idx="1"/>
          </p:nvPr>
        </p:nvSpPr>
        <p:spPr>
          <a:xfrm>
            <a:off x="265500" y="2735378"/>
            <a:ext cx="4045200" cy="217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1"/>
              </a:buClr>
              <a:buSzPts val="2300"/>
              <a:buFont typeface="Arial"/>
              <a:buChar char="●"/>
            </a:pPr>
            <a:r>
              <a:rPr lang="en" sz="2300">
                <a:solidFill>
                  <a:srgbClr val="0F111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Libraries used</a:t>
            </a:r>
            <a:endParaRPr sz="2300">
              <a:solidFill>
                <a:srgbClr val="0F111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914400" lvl="1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1"/>
              </a:buClr>
              <a:buSzPts val="2300"/>
              <a:buFont typeface="Arial"/>
              <a:buChar char="○"/>
            </a:pPr>
            <a:r>
              <a:rPr lang="en" sz="2300">
                <a:solidFill>
                  <a:srgbClr val="0F111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Pandas</a:t>
            </a:r>
            <a:endParaRPr sz="2300">
              <a:solidFill>
                <a:srgbClr val="0F111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914400" lvl="1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1"/>
              </a:buClr>
              <a:buSzPts val="2300"/>
              <a:buFont typeface="Arial"/>
              <a:buChar char="○"/>
            </a:pPr>
            <a:r>
              <a:rPr lang="en" sz="2300">
                <a:solidFill>
                  <a:srgbClr val="0F111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NLTK</a:t>
            </a:r>
            <a:endParaRPr sz="2300">
              <a:solidFill>
                <a:srgbClr val="0F111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300">
              <a:solidFill>
                <a:srgbClr val="0F111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</Words>
  <Application>Microsoft Office PowerPoint</Application>
  <PresentationFormat>On-screen Show (16:9)</PresentationFormat>
  <Paragraphs>47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Lato</vt:lpstr>
      <vt:lpstr>Raleway</vt:lpstr>
      <vt:lpstr>Arial</vt:lpstr>
      <vt:lpstr>Swiss</vt:lpstr>
      <vt:lpstr>Sentiment Analysis on Amazon Product Reviews</vt:lpstr>
      <vt:lpstr>Overview</vt:lpstr>
      <vt:lpstr>Product Information</vt:lpstr>
      <vt:lpstr>Web Scraping</vt:lpstr>
      <vt:lpstr>Data Preprocessing</vt:lpstr>
      <vt:lpstr>Visualizations of ratings</vt:lpstr>
      <vt:lpstr>Text Preprocessing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Sentiment Analysis on Amazon Product Reviews</dc:title>
  <cp:lastModifiedBy>Lucky Patidar</cp:lastModifiedBy>
  <cp:revision>1</cp:revision>
  <dcterms:modified xsi:type="dcterms:W3CDTF">2022-11-01T10:51:12Z</dcterms:modified>
</cp:coreProperties>
</file>